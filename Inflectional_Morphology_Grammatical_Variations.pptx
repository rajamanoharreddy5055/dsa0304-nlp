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6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548640"/>
            <a:ext cx="2011680" cy="201168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2103120"/>
            <a:ext cx="914400" cy="914400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3749039"/>
            <a:ext cx="1234440" cy="1234440"/>
          </a:xfrm>
          <a:prstGeom prst="ellipse">
            <a:avLst/>
          </a:prstGeom>
          <a:solidFill>
            <a:srgbClr val="E7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572000"/>
            <a:ext cx="1554480" cy="1554480"/>
          </a:xfrm>
          <a:prstGeom prst="ellipse">
            <a:avLst/>
          </a:prstGeom>
          <a:solidFill>
            <a:srgbClr val="334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7498079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INFLECTIONAL
MORPHOLOGY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704088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FE7E5"/>
                </a:solidFill>
                <a:latin typeface="Aptos"/>
              </a:rPr>
              <a:t>Understanding Grammatical Variations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704088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Grammatical analysis • Word normalization • Cross-language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983480"/>
            <a:ext cx="68580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D3DBE8"/>
                </a:solidFill>
                <a:latin typeface="Aptos"/>
              </a:rPr>
              <a:t>A study of how tense, number, gender and case shape word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80760"/>
            <a:ext cx="20116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B441"/>
                </a:solidFill>
                <a:latin typeface="Aptos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72645"/>
                </a:solidFill>
                <a:latin typeface="Aptos"/>
              </a:rPr>
              <a:t>1. What is inflectional morphology?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How words change form to express grammatical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08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515600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72645"/>
                </a:solidFill>
                <a:latin typeface="Aptos"/>
              </a:rPr>
              <a:t>Inflectional morphology studies changes to a word’s form that communicate grammar without creating a completely new dictionary word.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803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990088"/>
            <a:ext cx="64008" cy="1883663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044952"/>
            <a:ext cx="29992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PLAY → PLAYED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493008"/>
            <a:ext cx="2999232" cy="1353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C3441"/>
                </a:solidFill>
                <a:latin typeface="Aptos"/>
              </a:rPr>
              <a:t>The verb changes to show past tense.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803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990088"/>
            <a:ext cx="64008" cy="1883663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044952"/>
            <a:ext cx="29992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CAT → CATS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493008"/>
            <a:ext cx="2999232" cy="1353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C3441"/>
                </a:solidFill>
                <a:latin typeface="Aptos"/>
              </a:rPr>
              <a:t>The noun changes to show plural number.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8803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990088"/>
            <a:ext cx="64008" cy="1883663"/>
          </a:xfrm>
          <a:prstGeom prst="rect">
            <a:avLst/>
          </a:prstGeom>
          <a:solidFill>
            <a:srgbClr val="E7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3044952"/>
            <a:ext cx="29992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TALL → TALLER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3493008"/>
            <a:ext cx="2999232" cy="1353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C3441"/>
                </a:solidFill>
                <a:latin typeface="Aptos"/>
              </a:rPr>
              <a:t>The adjective changes to show comparison.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23560"/>
            <a:ext cx="10332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47080"/>
                </a:solidFill>
                <a:latin typeface="Aptos"/>
              </a:rPr>
              <a:t>Key idea: the grammatical role changes, while the core lexical meaning remains closely related.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72645"/>
                </a:solidFill>
                <a:latin typeface="Aptos"/>
              </a:rPr>
              <a:t>2. The four grammatical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Languages mark these categories in different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0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92807"/>
            <a:ext cx="64008" cy="138074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48280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TENSE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828032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C3441"/>
                </a:solidFill>
                <a:latin typeface="Aptos"/>
              </a:rPr>
              <a:t>Indicates when an event happens.
English: walk → walked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92807"/>
            <a:ext cx="64008" cy="1380744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47672"/>
            <a:ext cx="48280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95728"/>
            <a:ext cx="4828032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C3441"/>
                </a:solidFill>
                <a:latin typeface="Aptos"/>
              </a:rPr>
              <a:t>Indicates singular or plural.
English: book → books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13048"/>
            <a:ext cx="64008" cy="1380744"/>
          </a:xfrm>
          <a:prstGeom prst="rect">
            <a:avLst/>
          </a:prstGeom>
          <a:solidFill>
            <a:srgbClr val="E7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67911"/>
            <a:ext cx="48280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GENDER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15968"/>
            <a:ext cx="4828032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C3441"/>
                </a:solidFill>
                <a:latin typeface="Aptos"/>
              </a:rPr>
              <a:t>In some languages, forms agree with grammatical gender.
Spanish: niño → niña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03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13048"/>
            <a:ext cx="64008" cy="138074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867911"/>
            <a:ext cx="48280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4828032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C3441"/>
                </a:solidFill>
                <a:latin typeface="Aptos"/>
              </a:rPr>
              <a:t>Marks a noun/pronoun’s grammatical role.
German: der Mann → den Mann (accusative)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Important: grammatical gender is not always the same as a person’s gender; it is a language-specific noun class.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72645"/>
                </a:solidFill>
                <a:latin typeface="Aptos"/>
              </a:rPr>
              <a:t>3. Grammatical analysis: break a word into parts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Identify the base form, grammatical feature and inflection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080"/>
                </a:solidFill>
                <a:latin typeface="Aptos"/>
              </a:rP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527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926080"/>
                <a:gridCol w="5669280"/>
              </a:tblGrid>
              <a:tr h="612648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Word form</a:t>
                      </a:r>
                    </a:p>
                  </a:txBody>
                  <a:tcPr marL="109728" marR="91440">
                    <a:solidFill>
                      <a:srgbClr val="1726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 / lemma</a:t>
                      </a:r>
                    </a:p>
                  </a:txBody>
                  <a:tcPr marL="109728" marR="91440">
                    <a:solidFill>
                      <a:srgbClr val="1726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Grammatical information</a:t>
                      </a:r>
                    </a:p>
                  </a:txBody>
                  <a:tcPr marL="109728" marR="91440">
                    <a:solidFill>
                      <a:srgbClr val="172645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walked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walk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past tense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books</a:t>
                      </a:r>
                    </a:p>
                  </a:txBody>
                  <a:tcPr marL="109728" marR="9144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book</a:t>
                      </a:r>
                    </a:p>
                  </a:txBody>
                  <a:tcPr marL="109728" marR="9144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plural number</a:t>
                      </a:r>
                    </a:p>
                  </a:txBody>
                  <a:tcPr marL="109728" marR="91440">
                    <a:solidFill>
                      <a:srgbClr val="EDF3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niñas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niña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plural number; feminine noun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den</a:t>
                      </a:r>
                    </a:p>
                  </a:txBody>
                  <a:tcPr marL="109728" marR="9144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der (dictionary form)</a:t>
                      </a:r>
                    </a:p>
                  </a:txBody>
                  <a:tcPr marL="109728" marR="9144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2C3441"/>
                          </a:solidFill>
                          <a:latin typeface="Aptos"/>
                        </a:defRPr>
                      </a:pPr>
                      <a:r>
                        <a:t>masculine accusative form in German context</a:t>
                      </a:r>
                    </a:p>
                  </a:txBody>
                  <a:tcPr marL="109728" marR="91440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A useful analysis asks: What is the lemma? What changed? Which grammatical feature does the change express?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72645"/>
                </a:solidFill>
                <a:latin typeface="Aptos"/>
              </a:rPr>
              <a:t>4. Word normalization: returning to the lemma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Normalization helps compare related word forms consistently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080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72645"/>
                </a:solidFill>
                <a:latin typeface="Aptos"/>
              </a:rPr>
              <a:t>Word normalization maps inflected forms to a standard form—often the dictionary form, called a lemma.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5029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852928"/>
            <a:ext cx="64008" cy="128930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907792"/>
            <a:ext cx="46451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INFLECTED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355848"/>
            <a:ext cx="4645152" cy="7589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0">
                <a:solidFill>
                  <a:srgbClr val="2C3441"/>
                </a:solidFill>
                <a:latin typeface="Aptos"/>
              </a:rPr>
              <a:t>am • is • are • was • were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43200"/>
            <a:ext cx="5029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852928"/>
            <a:ext cx="64008" cy="1289304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2907792"/>
            <a:ext cx="46451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NORMALIZED LEMMA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3355848"/>
            <a:ext cx="4645152" cy="7589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0">
                <a:solidFill>
                  <a:srgbClr val="2C3441"/>
                </a:solidFill>
                <a:latin typeface="Aptos"/>
              </a:rPr>
              <a:t>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2628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636008"/>
            <a:ext cx="64008" cy="1014984"/>
          </a:xfrm>
          <a:prstGeom prst="rect">
            <a:avLst/>
          </a:prstGeom>
          <a:solidFill>
            <a:srgbClr val="E7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690872"/>
            <a:ext cx="46451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INFLECTED 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5138928"/>
            <a:ext cx="4645152" cy="4846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C3441"/>
                </a:solidFill>
                <a:latin typeface="Aptos"/>
              </a:rPr>
              <a:t>mice • mouse’s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52628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636008"/>
            <a:ext cx="64008" cy="101498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4690872"/>
            <a:ext cx="46451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NORMALIZED LEMMA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5138928"/>
            <a:ext cx="4645152" cy="4846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0">
                <a:solidFill>
                  <a:srgbClr val="2C3441"/>
                </a:solidFill>
                <a:latin typeface="Aptos"/>
              </a:rPr>
              <a:t>mouse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Lemmatization uses grammatical and vocabulary knowledge; stemming simply chops word endings and may produce non-words.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72645"/>
                </a:solidFill>
                <a:latin typeface="Aptos"/>
              </a:rPr>
              <a:t>5. Cross-language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The same grammatical idea can be expressed with different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080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92807"/>
            <a:ext cx="64008" cy="128930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48737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ENGLISH — TENSE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873752" cy="7589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C3441"/>
                </a:solidFill>
                <a:latin typeface="Aptos"/>
              </a:rPr>
              <a:t>work → worked
Past tense is shown with -ed.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92807"/>
            <a:ext cx="64008" cy="1289304"/>
          </a:xfrm>
          <a:prstGeom prst="rect">
            <a:avLst/>
          </a:prstGeom>
          <a:solidFill>
            <a:srgbClr val="E7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47672"/>
            <a:ext cx="48737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SPANISH — GENDER &amp;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95728"/>
            <a:ext cx="4873752" cy="7589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C3441"/>
                </a:solidFill>
                <a:latin typeface="Aptos"/>
              </a:rPr>
              <a:t>niño → niña → niñas
Feminine and plural forms are marked.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21608"/>
            <a:ext cx="64008" cy="1289304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48737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HINDI — NUMBER / AGREEMENT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24528"/>
            <a:ext cx="4873752" cy="7589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C3441"/>
                </a:solidFill>
                <a:latin typeface="Aptos"/>
              </a:rPr>
              <a:t>लड़का (laṛkā) → लड़के (laṛke)
A common masculine plural 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118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21608"/>
            <a:ext cx="64008" cy="128930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776472"/>
            <a:ext cx="48737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GERMAN —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24528"/>
            <a:ext cx="4873752" cy="7589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2C3441"/>
                </a:solidFill>
                <a:latin typeface="Aptos"/>
              </a:rPr>
              <a:t>der Hund → den Hund
The article changes in the accusative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698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These are illustrative patterns; exact forms depend on context, dialect, and the language’s grammar.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72645"/>
                </a:solidFill>
                <a:latin typeface="Aptos"/>
              </a:rPr>
              <a:t>6. A simple workflow for grammatical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Use this process when examining a word in a sentence or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080"/>
                </a:solidFill>
                <a:latin typeface="Aptos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1874519"/>
            <a:ext cx="621792" cy="621792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93392"/>
            <a:ext cx="6217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1645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72645"/>
                </a:solidFill>
                <a:latin typeface="Aptos"/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169164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C3441"/>
                </a:solidFill>
                <a:latin typeface="Aptos"/>
              </a:rPr>
              <a:t>Find the word form in its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19933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647080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547872" y="1874519"/>
            <a:ext cx="621792" cy="621792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993392"/>
            <a:ext cx="6217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697480"/>
            <a:ext cx="1645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72645"/>
                </a:solidFill>
                <a:latin typeface="Aptos"/>
              </a:rPr>
              <a:t>Identify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154680"/>
            <a:ext cx="169164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C3441"/>
                </a:solidFill>
                <a:latin typeface="Aptos"/>
              </a:rPr>
              <a:t>Determine its part of speech and likely lemma.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19933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647080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815583" y="1874519"/>
            <a:ext cx="621792" cy="621792"/>
          </a:xfrm>
          <a:prstGeom prst="ellipse">
            <a:avLst/>
          </a:prstGeom>
          <a:solidFill>
            <a:srgbClr val="E7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5583" y="1993392"/>
            <a:ext cx="6217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697480"/>
            <a:ext cx="1645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72645"/>
                </a:solidFill>
                <a:latin typeface="Aptos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3154680"/>
            <a:ext cx="169164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C3441"/>
                </a:solidFill>
                <a:latin typeface="Aptos"/>
              </a:rPr>
              <a:t>Compare the form with the lemma.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19933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647080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083296" y="1874519"/>
            <a:ext cx="621792" cy="621792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993392"/>
            <a:ext cx="6217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2697480"/>
            <a:ext cx="1645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72645"/>
                </a:solidFill>
                <a:latin typeface="Aptos"/>
              </a:rPr>
              <a:t>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5" y="3154680"/>
            <a:ext cx="169164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C3441"/>
                </a:solidFill>
                <a:latin typeface="Aptos"/>
              </a:rPr>
              <a:t>Record tense, number, gender, case or agreement.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9933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647080"/>
                </a:solidFill>
                <a:latin typeface="Aptos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351008" y="1874519"/>
            <a:ext cx="621792" cy="621792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51008" y="1993392"/>
            <a:ext cx="6217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2697480"/>
            <a:ext cx="1645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72645"/>
                </a:solidFill>
                <a:latin typeface="Aptos"/>
              </a:rPr>
              <a:t>Normalize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3154680"/>
            <a:ext cx="169164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2C3441"/>
                </a:solidFill>
                <a:latin typeface="Aptos"/>
              </a:rPr>
              <a:t>Map the inflected form to its lemma when appropriate.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800600"/>
            <a:ext cx="10287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910328"/>
            <a:ext cx="64008" cy="69494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965192"/>
            <a:ext cx="99029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413248"/>
            <a:ext cx="9902952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C3441"/>
                </a:solidFill>
                <a:latin typeface="Aptos"/>
              </a:rPr>
              <a:t>“The students were reading.” → lemmas: the, student, be, read. Grammar labels include plural number and past progressive tense.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72645"/>
                </a:solidFill>
                <a:latin typeface="Aptos"/>
              </a:rPr>
              <a:t>7. Why it matters—and common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080"/>
                </a:solidFill>
                <a:latin typeface="Aptos"/>
              </a:rPr>
              <a:t>Useful for language technology as well as linguistic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080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92807"/>
            <a:ext cx="64008" cy="133502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48737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4873752" cy="8046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C3441"/>
                </a:solidFill>
                <a:latin typeface="Aptos"/>
              </a:rPr>
              <a:t>• Search and information retrieval
• Machine translation
• Text analytics and corpus study
• Speech and language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92807"/>
            <a:ext cx="64008" cy="1335024"/>
          </a:xfrm>
          <a:prstGeom prst="rect">
            <a:avLst/>
          </a:prstGeom>
          <a:solidFill>
            <a:srgbClr val="E7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47672"/>
            <a:ext cx="48737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645"/>
                </a:solidFill>
                <a:latin typeface="Aptos"/>
              </a:rPr>
              <a:t>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95728"/>
            <a:ext cx="4873752" cy="8046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2C3441"/>
                </a:solidFill>
                <a:latin typeface="Aptos"/>
              </a:rPr>
              <a:t>• One form may have multiple meanings
• Irregular forms: go → went
• Languages mark grammar differently
• Context is needed to choose the right lemma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1024128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72645"/>
                </a:solidFill>
                <a:latin typeface="Aptos"/>
              </a:rPr>
              <a:t>Example: “saw” may be the past tense of see or the noun saw. Context resolves the ambiguity.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24128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47080"/>
                </a:solidFill>
                <a:latin typeface="Aptos"/>
              </a:rPr>
              <a:t>Good normalization preserves meaning: it should not erase grammatical information needed for the task.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6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5943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EEBE7"/>
                </a:solidFill>
                <a:latin typeface="Aptos"/>
              </a:rPr>
              <a:t>Inflectional morphology explains how words change to express grammar.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149840" cy="237744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FFFFFF"/>
                </a:solidFill>
                <a:latin typeface="Aptos"/>
              </a:rPr>
              <a:t>Grammatical analysis: </a:t>
            </a:r>
            <a:r>
              <a:rPr sz="1800">
                <a:solidFill>
                  <a:srgbClr val="FFFFFF"/>
                </a:solidFill>
                <a:latin typeface="Aptos"/>
              </a:rPr>
              <a:t>identify the lemma and the feature expressed by a form.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FFFFFF"/>
                </a:solidFill>
                <a:latin typeface="Aptos"/>
              </a:rPr>
              <a:t>Normalization: </a:t>
            </a:r>
            <a:r>
              <a:rPr sz="1800">
                <a:solidFill>
                  <a:srgbClr val="FFFFFF"/>
                </a:solidFill>
                <a:latin typeface="Aptos"/>
              </a:rPr>
              <a:t>map inflected variants to a consistent base form.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FFFFFF"/>
                </a:solidFill>
                <a:latin typeface="Aptos"/>
              </a:rPr>
              <a:t>Cross-language perspective: </a:t>
            </a:r>
            <a:r>
              <a:rPr sz="1800">
                <a:solidFill>
                  <a:srgbClr val="FFFFFF"/>
                </a:solidFill>
                <a:latin typeface="Aptos"/>
              </a:rPr>
              <a:t>tense, number, gender and case vary in how they are marked.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FFFFFF"/>
                </a:solidFill>
                <a:latin typeface="Aptos"/>
              </a:rPr>
              <a:t>Use context: </a:t>
            </a:r>
            <a:r>
              <a:rPr sz="1800">
                <a:solidFill>
                  <a:srgbClr val="FFFFFF"/>
                </a:solidFill>
                <a:latin typeface="Aptos"/>
              </a:rPr>
              <a:t>irregular forms and ambiguous words need careful interpretation.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27432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B441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5897880"/>
            <a:ext cx="21945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